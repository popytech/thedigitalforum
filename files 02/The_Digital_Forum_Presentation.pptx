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1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1B6B3A">
              <a:alpha val="1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457200"/>
            <a:ext cx="2286000" cy="2286000"/>
          </a:xfrm>
          <a:prstGeom prst="ellipse">
            <a:avLst/>
          </a:prstGeom>
          <a:solidFill>
            <a:srgbClr val="1B6B3A">
              <a:alpha val="10000"/>
            </a:srgbClr>
          </a:solidFill>
          <a:ln w="6350">
            <a:solidFill>
              <a:srgbClr val="A8F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613" y="825669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6400" b="1" dirty="0"/>
          </a:p>
          <a:p>
            <a:pPr marL="0" indent="0">
              <a:buNone/>
            </a:pPr>
            <a:r>
              <a:rPr lang="en-US" sz="72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592667" y="3307842"/>
            <a:ext cx="3200400" cy="36576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7513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FF78"/>
                </a:solidFill>
              </a:rPr>
              <a:t>PRÉSENTATION OFFICIELLE DU PROJET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3013" y="3995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5A8"/>
                </a:solidFill>
              </a:rPr>
              <a:t>Popy Traoré — CEO, Popy Tech Agency  ·  Conakry, Guinée  · 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3013" y="441291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FF78"/>
                </a:solidFill>
              </a:rPr>
              <a:t>Le </a:t>
            </a:r>
            <a:r>
              <a:rPr lang="en-US" sz="1400" i="1" dirty="0" err="1">
                <a:solidFill>
                  <a:srgbClr val="A8FF78"/>
                </a:solidFill>
              </a:rPr>
              <a:t>rendez</a:t>
            </a:r>
            <a:r>
              <a:rPr lang="en-US" sz="1400" i="1" dirty="0">
                <a:solidFill>
                  <a:srgbClr val="A8FF78"/>
                </a:solidFill>
              </a:rPr>
              <a:t>-vous </a:t>
            </a:r>
            <a:r>
              <a:rPr lang="en-US" sz="1400" i="1" dirty="0" err="1">
                <a:solidFill>
                  <a:srgbClr val="A8FF78"/>
                </a:solidFill>
              </a:rPr>
              <a:t>Trimestriel</a:t>
            </a:r>
            <a:r>
              <a:rPr lang="en-US" sz="1400" i="1" dirty="0">
                <a:solidFill>
                  <a:srgbClr val="A8FF78"/>
                </a:solidFill>
              </a:rPr>
              <a:t> du digital entrepreneurial en Guinée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 contexte — Pourquoi maintenant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55648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 projet — Ce qu'est The Digital Forum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05456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0545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 format — Comment ça marche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55264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55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2552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 calendrier — 6 éditions sur 1 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05072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L'équipe — Qui porte le projet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10058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L'impact — Ce qu'on construit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755648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55648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556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75564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Les partenaires — Pourquoi nous rejoindre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05456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054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50545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 financement — Modèle économique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4114800" cy="59436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255264"/>
            <a:ext cx="502920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55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2552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Les prochaines étapes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LE CONTEXTE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B5A8"/>
                </a:solidFill>
              </a:rPr>
              <a:t>Pourquoi The Digital Forum, pourquoi maintenant, pourquoi en Guinée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237744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011680" cy="54864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Abonnés mobiles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en Afrique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2011680" cy="237744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80160"/>
            <a:ext cx="2011680" cy="54864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Croissance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e-commerce/an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2011680" cy="237744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2011680" cy="54864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Événement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9AB5A8"/>
                </a:solidFill>
              </a:rPr>
              <a:t>trimestriel</a:t>
            </a:r>
            <a:r>
              <a:rPr lang="en-US" sz="1200" dirty="0">
                <a:solidFill>
                  <a:srgbClr val="9AB5A8"/>
                </a:solidFill>
              </a:rPr>
              <a:t> digital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en Guinée avant nous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2011680" cy="237744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280160"/>
            <a:ext cx="2011680" cy="54864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Population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la plus jeune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du monde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« Le digital explose en Afrique. La Guinée n'a pas encore son événement de référence. C'est l'opportunité qu'on saisit. 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LE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Digital Forum est la première série </a:t>
            </a:r>
            <a:r>
              <a:rPr lang="en-US" sz="1800" b="1" dirty="0" err="1">
                <a:solidFill>
                  <a:srgbClr val="FFFFFF"/>
                </a:solidFill>
              </a:rPr>
              <a:t>d'événements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sz="1800" b="1" dirty="0" err="1">
                <a:solidFill>
                  <a:srgbClr val="FFFFFF"/>
                </a:solidFill>
              </a:rPr>
              <a:t>Trimestriels</a:t>
            </a:r>
            <a:r>
              <a:rPr lang="en-US" sz="1800" b="1" dirty="0">
                <a:solidFill>
                  <a:srgbClr val="FFFFFF"/>
                </a:solidFill>
              </a:rPr>
              <a:t> dédiés à l'entrepreneuriat digital en Guinée.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</a:rPr>
              <a:t>Certifiant · Gratuit · Impact réel · Conakry, Guinée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6B3A"/>
                </a:solidFill>
              </a:rPr>
              <a:t>ÉDUQUER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Thèmes concrets actionnables par édition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6B3A"/>
                </a:solidFill>
              </a:rPr>
              <a:t>CONNECTER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Networking qualifié entre participants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6B3A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749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Chaque participant repart avec 1 action concrète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LE FORMAT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Fréquence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914400"/>
            <a:ext cx="5852160" cy="475488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91440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Toutes les 2 mois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Durée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5852160" cy="475488"/>
          </a:xfrm>
          <a:prstGeom prst="rect">
            <a:avLst/>
          </a:prstGeom>
          <a:solidFill>
            <a:srgbClr val="111D14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6304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 à 4 heures (15h–18h)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2011680"/>
            <a:ext cx="5852160" cy="475488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01168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3–4 speakers + table ronde + Q&amp;A + networking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Capacité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560320"/>
            <a:ext cx="5852160" cy="475488"/>
          </a:xfrm>
          <a:prstGeom prst="rect">
            <a:avLst/>
          </a:prstGeom>
          <a:solidFill>
            <a:srgbClr val="111D14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56032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Éd.1 : 80–120 · Éd.2 : 150–200 · Éd.3 : 200–300+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Lieu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3108960"/>
            <a:ext cx="5852160" cy="475488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0896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Salle de conférence / hôtel — Conakry, Guinée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Accès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34640" y="3657600"/>
            <a:ext cx="5852160" cy="475488"/>
          </a:xfrm>
          <a:prstGeom prst="rect">
            <a:avLst/>
          </a:prstGeom>
          <a:solidFill>
            <a:srgbClr val="111D14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65760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Gratuit (Éd.1–2) → Ticketing (Éd.3+)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2286000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Certification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34640" y="4206240"/>
            <a:ext cx="5852160" cy="475488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20624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Attestation officielle remise à chaque participant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CALENDRIER 6 ÉDITIONS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298448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3A"/>
                </a:solidFill>
              </a:rPr>
              <a:t>Juin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Gagner de l'argent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avec le digital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37360" y="914400"/>
            <a:ext cx="1298448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Août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E-commerce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vente en ligne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14400"/>
            <a:ext cx="1298448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3A"/>
                </a:solidFill>
              </a:rPr>
              <a:t>Oct.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Personal branding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&amp; revenus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14400"/>
            <a:ext cx="1298448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Déc.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IA &amp; digital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en Afrique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14400"/>
            <a:ext cx="1298448" cy="5943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3A"/>
                </a:solidFill>
              </a:rPr>
              <a:t>Fév. 2027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Financer 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projet digital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914400"/>
            <a:ext cx="1298448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A8F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0" y="914400"/>
            <a:ext cx="1298448" cy="594360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9144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Éd.06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89520" y="16002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Avr. 2027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194560"/>
            <a:ext cx="12984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Bilan 1 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&amp; Vision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B5A8"/>
                </a:solidFill>
              </a:rPr>
              <a:t>Juin 2026 → Avril 2027 · 1 an · 6 éditions · 300+ participants à terme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4114800"/>
          </a:xfrm>
          <a:prstGeom prst="rect">
            <a:avLst/>
          </a:prstGeom>
          <a:solidFill>
            <a:srgbClr val="0D2218"/>
          </a:solidFill>
          <a:ln w="25400">
            <a:solidFill>
              <a:srgbClr val="A8F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051560"/>
            <a:ext cx="1920240" cy="1920240"/>
          </a:xfrm>
          <a:prstGeom prst="ellipse">
            <a:avLst/>
          </a:prstGeom>
          <a:solidFill>
            <a:srgbClr val="1B6B3A"/>
          </a:solidFill>
          <a:ln w="38100">
            <a:solidFill>
              <a:srgbClr val="A8F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05156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54864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POPY TRAORÉ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FF78"/>
                </a:solidFill>
              </a:rPr>
              <a:t>Fondateur &amp; Organisateur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FF78"/>
                </a:solidFill>
              </a:rPr>
              <a:t>CEO, Popy Tech Agency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840480" cy="86868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868680"/>
            <a:ext cx="73152" cy="868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326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Designer / Associé créatif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B5A8"/>
                </a:solidFill>
              </a:rPr>
              <a:t>Identité visuelle &amp; supports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3840480" cy="86868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74520"/>
            <a:ext cx="73152" cy="868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Photographe / Vidéaste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B5A8"/>
                </a:solidFill>
              </a:rPr>
              <a:t>Captation &amp; contenu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880360"/>
            <a:ext cx="3840480" cy="86868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73152" cy="868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944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 Manager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3375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B5A8"/>
                </a:solidFill>
              </a:rPr>
              <a:t>Réseaux sociaux &amp; comm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886200"/>
            <a:ext cx="3840480" cy="868680"/>
          </a:xfrm>
          <a:prstGeom prst="rect">
            <a:avLst/>
          </a:prstGeom>
          <a:solidFill>
            <a:srgbClr val="0D2218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886200"/>
            <a:ext cx="73152" cy="868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950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Coordinateur logistique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434340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B5A8"/>
                </a:solidFill>
              </a:rPr>
              <a:t>Organisation &amp; accueil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846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B5A8"/>
                </a:solidFill>
              </a:rPr>
              <a:t>Recrutement en cours — Profils disponibles sur demande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L'IMPACT VISÉ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Éducation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Des compétences digitales concrètes transmises à chaque édition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Réseau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Des connexions professionnelles durables dans l'écosystème local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43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Revenus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Des participants qui lancent leur activité digitale après l'événement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108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Rayonnement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Positionner la Guinée comme acteur du digital africain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3108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4612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Écosystème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4023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Créer le tissu entrepreneurial digital qui manque en Guinée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108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3657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3A"/>
                </a:solidFill>
              </a:rPr>
              <a:t>Mesure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Rapport d'impact post-édition transmis à tous les partenaires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PARTENAIRES &amp; SPONSORS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CD7F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640080"/>
          </a:xfrm>
          <a:prstGeom prst="rect">
            <a:avLst/>
          </a:prstGeom>
          <a:solidFill>
            <a:srgbClr val="0D2218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3272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 00 000 GNF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Logo affiche &amp; digitaux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Mention orale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895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1 place VIP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2011680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C0C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14400"/>
            <a:ext cx="2011680" cy="640080"/>
          </a:xfrm>
          <a:prstGeom prst="rect">
            <a:avLst/>
          </a:prstGeom>
          <a:solidFill>
            <a:srgbClr val="0D2218"/>
          </a:solidFill>
          <a:ln w="25400">
            <a:solidFill>
              <a:srgbClr val="C0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1205293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5 000 000 GNF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+ Stand 1m×1m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359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Distribution supports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8895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Post Facebook dédié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4198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3 places VIP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2011680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14400"/>
            <a:ext cx="2011680" cy="640080"/>
          </a:xfrm>
          <a:prstGeom prst="rect">
            <a:avLst/>
          </a:prstGeom>
          <a:solidFill>
            <a:srgbClr val="0D2218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189577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10 000 000 GNF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+ 5 min prise de parole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359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Visibilité 30j post-événement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8895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Rapport chiffré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198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5 places VIP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914400"/>
            <a:ext cx="2011680" cy="3977640"/>
          </a:xfrm>
          <a:prstGeom prst="rect">
            <a:avLst/>
          </a:prstGeom>
          <a:solidFill>
            <a:srgbClr val="0D2218"/>
          </a:solidFill>
          <a:ln w="25400">
            <a:solidFill>
              <a:srgbClr val="A8F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solidFill>
            <a:srgbClr val="0D2218"/>
          </a:solidFill>
          <a:ln w="25400">
            <a:solidFill>
              <a:srgbClr val="A8FF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11704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 – 50 000 GNF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Co-branding complet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2359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Contenu pré/pendant/post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8895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Convention 3 éditions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4198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Illimité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MODÈLE ÉCONOMIQUE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 niveaux de revenus progressifs sur 1 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51760" cy="6858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Éd. 1–2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3A"/>
                </a:solidFill>
              </a:rPr>
              <a:t>Revenus indirects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Nouveaux clients Popy Tech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Inscriptions DigitalPro Academy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Vendeurs WatsShop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Notoriété &amp; autorité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265176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92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Éd. 2+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</a:rPr>
              <a:t>Sponsors &amp; partenariats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Pack Bronze : 500K GNF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3101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Pack Argent : 1M GNF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Pack Or : 2M GNF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2611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Partenaire Officiel : devis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5087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1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08760"/>
            <a:ext cx="2651760" cy="685800"/>
          </a:xfrm>
          <a:prstGeom prst="rect">
            <a:avLst/>
          </a:prstGeom>
          <a:solidFill>
            <a:srgbClr val="6B1FA3"/>
          </a:solidFill>
          <a:ln w="12700">
            <a:solidFill>
              <a:srgbClr val="6B1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892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Éd. 3+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FA3"/>
                </a:solidFill>
              </a:rPr>
              <a:t>Ticketing direct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Early bird : 30 000 GNF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3101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Standard : 50 000 GNF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VIP : 150 000 GNF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2611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→  Replay payant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PROCHAINES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6400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1280160" cy="640080"/>
          </a:xfrm>
          <a:prstGeom prst="rect">
            <a:avLst/>
          </a:prstGeom>
          <a:solidFill>
            <a:srgbClr val="0D221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Avril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6217920" cy="640080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144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Finaliser l'identité visuelle · Recruter les associés · Ouvrir les pages réseaux sociaux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0" cy="6400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1737360"/>
            <a:ext cx="1280160" cy="640080"/>
          </a:xfrm>
          <a:prstGeom prst="rect">
            <a:avLst/>
          </a:prstGeom>
          <a:solidFill>
            <a:srgbClr val="0D221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Avril–Mai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1737360"/>
            <a:ext cx="6217920" cy="640080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737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Démarcher les sponsors · Confirmer les speakers · Réserver le lieu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548640" cy="6400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560320"/>
            <a:ext cx="1280160" cy="640080"/>
          </a:xfrm>
          <a:prstGeom prst="rect">
            <a:avLst/>
          </a:prstGeom>
          <a:solidFill>
            <a:srgbClr val="0D221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560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Mai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2560320"/>
            <a:ext cx="6217920" cy="640080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5603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Lancer la campagne de communication · Ouvrir les inscriptions · Finaliser l'affiche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548640" cy="6400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83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383280"/>
            <a:ext cx="1280160" cy="640080"/>
          </a:xfrm>
          <a:prstGeom prst="rect">
            <a:avLst/>
          </a:prstGeom>
          <a:solidFill>
            <a:srgbClr val="0D221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Juin 2026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383280"/>
            <a:ext cx="6217920" cy="640080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3832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PREMIÈRE ÉDITION — The Digital Forum · 80–120 participants · Conakry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8640" cy="6400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06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4206240"/>
            <a:ext cx="1280160" cy="640080"/>
          </a:xfrm>
          <a:prstGeom prst="rect">
            <a:avLst/>
          </a:prstGeom>
          <a:solidFill>
            <a:srgbClr val="0D221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206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FF78"/>
                </a:solidFill>
              </a:rPr>
              <a:t>Juillet 2026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4206240"/>
            <a:ext cx="6217920" cy="640080"/>
          </a:xfrm>
          <a:prstGeom prst="rect">
            <a:avLst/>
          </a:prstGeom>
          <a:solidFill>
            <a:srgbClr val="0D2218"/>
          </a:solidFill>
          <a:ln w="6350">
            <a:solidFill>
              <a:srgbClr val="1B6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4206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Débrief · Rapport post-événement · Préparer l'édition 02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-365760"/>
            <a:ext cx="2743200" cy="2743200"/>
          </a:xfrm>
          <a:prstGeom prst="ellipse">
            <a:avLst/>
          </a:prstGeom>
          <a:solidFill>
            <a:srgbClr val="1B6B3A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1B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L'ère du digital n'attend pas.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vraie question :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allez-vous rejoindre le mouvement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juste l'observer 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3566160"/>
            <a:ext cx="5486400" cy="36576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Popy Traoré  ·  CEO, Popy Tech Agency  ·  Organisateur — The Digital Forum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5A8"/>
                </a:solidFill>
              </a:rPr>
              <a:t>📱 +224 612 960 453   ·   🌐 watshop.vercel.app   ·   #TheDigitalForum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816</Words>
  <Application>Microsoft Office PowerPoint</Application>
  <PresentationFormat>Affichage à l'écran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Forum — Présentation Projet</dc:title>
  <dc:subject>PptxGenJS Presentation</dc:subject>
  <dc:creator>PptxGenJS</dc:creator>
  <cp:lastModifiedBy>Mamaissata Camara</cp:lastModifiedBy>
  <cp:revision>3</cp:revision>
  <dcterms:created xsi:type="dcterms:W3CDTF">2026-04-16T10:20:59Z</dcterms:created>
  <dcterms:modified xsi:type="dcterms:W3CDTF">2026-04-25T13:25:02Z</dcterms:modified>
</cp:coreProperties>
</file>